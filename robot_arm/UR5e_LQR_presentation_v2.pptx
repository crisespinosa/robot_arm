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· ЗАДАЧИ · МЕТОДЫ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1430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Субоптимальный алгоритм управления робототехническим манипулятором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основе мультимодальных входных данных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11201400" cy="0"/>
          </a:xfrm>
          <a:prstGeom prst="line">
            <a:avLst/>
          </a:prstGeom>
          <a:noFill/>
          <a:ln w="12700">
            <a:solidFill>
              <a:srgbClr val="B6C3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45920"/>
            <a:ext cx="5852160" cy="1188720"/>
          </a:xfrm>
          <a:prstGeom prst="rect">
            <a:avLst/>
          </a:prstGeom>
          <a:solidFill>
            <a:srgbClr val="F4F6FB"/>
          </a:solidFill>
          <a:ln w="12700">
            <a:solidFill>
              <a:srgbClr val="B6C3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45920"/>
            <a:ext cx="100584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69164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011680"/>
            <a:ext cx="5532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и исследование конечногоризонтного LQR-регулятора для UR5e в симуляционной среде.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2920" y="2926080"/>
            <a:ext cx="5852160" cy="2148840"/>
          </a:xfrm>
          <a:prstGeom prst="rect">
            <a:avLst/>
          </a:prstGeom>
          <a:solidFill>
            <a:srgbClr val="F4F6FB"/>
          </a:solidFill>
          <a:ln w="12700">
            <a:solidFill>
              <a:srgbClr val="B6C3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926080"/>
            <a:ext cx="100584" cy="2148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7180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3291840"/>
            <a:ext cx="5532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в суставном пространстве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Траектория minimum-jerk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LQR: выбор весов, горизонт 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Полная нелинейная динамика UR5e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Эксперименты и метрики качества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02920" y="5166360"/>
            <a:ext cx="5852160" cy="1417320"/>
          </a:xfrm>
          <a:prstGeom prst="rect">
            <a:avLst/>
          </a:prstGeom>
          <a:solidFill>
            <a:srgbClr val="F4F6FB"/>
          </a:solidFill>
          <a:ln w="12700">
            <a:solidFill>
              <a:srgbClr val="B6C3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5166360"/>
            <a:ext cx="100584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521208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МЕТОДЫ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1520" y="5532120"/>
            <a:ext cx="5532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Планировщик minimum-jerk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LQR: рекурсия Риккати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Обратная динамика, dt = 0.02 с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537960" y="1645920"/>
            <a:ext cx="52578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6C3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9400" y="1719072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одного шага управления</a:t>
            </a:r>
            <a:endParaRPr lang="en-US" sz="1800" dirty="0"/>
          </a:p>
        </p:txBody>
      </p:sp>
      <p:pic>
        <p:nvPicPr>
          <p:cNvPr id="20" name="Image 0" descr="/sessions/cool-gracious-johnson/figs_exp/word/media/flow_r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3922" y="2084832"/>
            <a:ext cx="4985876" cy="443484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6638544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Субоптимальный алгоритм управления манипулятором на основе мультимодальных входных данных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0972800" y="6638544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 2 · РЕЗУЛЬТАТЫ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Базовый эксперимент: слежение и моменты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11201400" cy="0"/>
          </a:xfrm>
          <a:prstGeom prst="line">
            <a:avLst/>
          </a:prstGeom>
          <a:noFill/>
          <a:ln w="12700">
            <a:solidFill>
              <a:srgbClr val="B6C3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17320"/>
            <a:ext cx="11201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q_start = 0,  q_target = [0.8, −0.6, 0.7, −0.4, 0.5, −0.3],  T = 1.5 с,  dt = 0.02 с,  wq = 30, w_q̇ = 2, wu = 0.1, N = 20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266319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3218688"/>
            <a:ext cx="2663190" cy="73152"/>
          </a:xfrm>
          <a:prstGeom prst="rect">
            <a:avLst/>
          </a:prstGeom>
          <a:solidFill>
            <a:srgbClr val="F7B538"/>
          </a:solidFill>
          <a:ln w="12700">
            <a:solidFill>
              <a:srgbClr val="F7B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11680"/>
            <a:ext cx="257175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0.0026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548640" y="2788920"/>
            <a:ext cx="257175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RMS(e_q), рад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348990" y="1874520"/>
            <a:ext cx="266319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48990" y="3218688"/>
            <a:ext cx="2663190" cy="73152"/>
          </a:xfrm>
          <a:prstGeom prst="rect">
            <a:avLst/>
          </a:prstGeom>
          <a:solidFill>
            <a:srgbClr val="F7B538"/>
          </a:solidFill>
          <a:ln w="12700">
            <a:solidFill>
              <a:srgbClr val="F7B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94710" y="2011680"/>
            <a:ext cx="257175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0.0060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3394710" y="2788920"/>
            <a:ext cx="257175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max|e_q|, рад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95060" y="1874520"/>
            <a:ext cx="266319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95060" y="3218688"/>
            <a:ext cx="2663190" cy="73152"/>
          </a:xfrm>
          <a:prstGeom prst="rect">
            <a:avLst/>
          </a:prstGeom>
          <a:solidFill>
            <a:srgbClr val="F7B538"/>
          </a:solidFill>
          <a:ln w="12700">
            <a:solidFill>
              <a:srgbClr val="F7B5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40780" y="2011680"/>
            <a:ext cx="257175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0.0035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240780" y="2788920"/>
            <a:ext cx="257175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e_q(t_f), рад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041130" y="1874520"/>
            <a:ext cx="266319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41130" y="3218688"/>
            <a:ext cx="2663190" cy="73152"/>
          </a:xfrm>
          <a:prstGeom prst="rect">
            <a:avLst/>
          </a:prstGeom>
          <a:solidFill>
            <a:srgbClr val="F7B538"/>
          </a:solidFill>
          <a:ln w="12700">
            <a:solidFill>
              <a:srgbClr val="F7B5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86850" y="2011680"/>
            <a:ext cx="257175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289.1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9086850" y="2788920"/>
            <a:ext cx="257175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u_energy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2920" y="3520440"/>
            <a:ext cx="5509260" cy="2880360"/>
          </a:xfrm>
          <a:prstGeom prst="rect">
            <a:avLst/>
          </a:prstGeom>
          <a:solidFill>
            <a:srgbClr val="F4F6FB"/>
          </a:solidFill>
          <a:ln w="12700">
            <a:solidFill>
              <a:srgbClr val="B6C3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566160"/>
            <a:ext cx="55092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Слежение: q(t) vs q_ref(t)</a:t>
            </a:r>
            <a:endParaRPr lang="en-US" sz="1400" dirty="0"/>
          </a:p>
        </p:txBody>
      </p:sp>
      <p:pic>
        <p:nvPicPr>
          <p:cNvPr id="25" name="Image 0" descr="/sessions/cool-gracious-johnson/figs_exp/word/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741" y="3886200"/>
            <a:ext cx="4443617" cy="242316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6195060" y="3520440"/>
            <a:ext cx="5509260" cy="2880360"/>
          </a:xfrm>
          <a:prstGeom prst="rect">
            <a:avLst/>
          </a:prstGeom>
          <a:solidFill>
            <a:srgbClr val="F4F6FB"/>
          </a:solidFill>
          <a:ln w="12700">
            <a:solidFill>
              <a:srgbClr val="B6C3E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95060" y="3566160"/>
            <a:ext cx="55092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Профили управляющих моментов τ(t)</a:t>
            </a:r>
            <a:endParaRPr lang="en-US" sz="1400" dirty="0"/>
          </a:p>
        </p:txBody>
      </p:sp>
      <p:pic>
        <p:nvPicPr>
          <p:cNvPr id="28" name="Image 1" descr="/sessions/cool-gracious-johnson/figs_exp/word/media/image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9097" y="3886200"/>
            <a:ext cx="4841186" cy="2423160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02920" y="6638544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Субоптимальный алгоритм управления манипулятором на основе мультимодальных входных данных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10972800" y="6638544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 3 · РЕЗУЛЬТАТЫ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Влияние веса управления w_u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11201400" cy="0"/>
          </a:xfrm>
          <a:prstGeom prst="line">
            <a:avLst/>
          </a:prstGeom>
          <a:noFill/>
          <a:ln w="12700">
            <a:solidFill>
              <a:srgbClr val="B6C3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17320"/>
            <a:ext cx="11201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Варьируется только w_u; остальные веса и горизонт N = 20 фиксированы.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20240"/>
          <a:ext cx="61264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828800"/>
                <a:gridCol w="164592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w_u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RMS(e_q), рад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max|e_q|, рад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u_energy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0.00197 ★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0.00431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290.31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0.00249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0.00578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289.65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0.00264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0.00598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289.09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0.00258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0.00557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288.85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0.00244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0.00512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288.79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02920" y="4434840"/>
            <a:ext cx="6126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Минимум ошибки при w_u = 1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u_energy почти не меняется: 288.8 … 290.3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Зависимость от w_u не является монотонной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02920" y="5897880"/>
            <a:ext cx="612648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589788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Штраф w_u меняет точность слежения, почти не влияя на суммарную энергию управления.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858000" y="1920240"/>
            <a:ext cx="4830775" cy="4526280"/>
          </a:xfrm>
          <a:prstGeom prst="rect">
            <a:avLst/>
          </a:prstGeom>
          <a:solidFill>
            <a:srgbClr val="F4F6FB"/>
          </a:solidFill>
          <a:ln w="12700">
            <a:solidFill>
              <a:srgbClr val="B6C3E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0" y="1965960"/>
            <a:ext cx="48307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Компромисс: RMS(e_q) vs u_energy</a:t>
            </a:r>
            <a:endParaRPr lang="en-US" sz="1400" dirty="0"/>
          </a:p>
        </p:txBody>
      </p:sp>
      <p:pic>
        <p:nvPicPr>
          <p:cNvPr id="13" name="Image 0" descr="/sessions/cool-gracious-johnson/figs_exp/word/media/image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2383475"/>
            <a:ext cx="4647895" cy="3874129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2920" y="6638544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Субоптимальный алгоритм управления манипулятором на основе мультимодальных входных данных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0972800" y="6638544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 4 · РЕЗУЛЬТАТЫ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Целевые конфигурации A/B/C: рост сложности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11201400" cy="0"/>
          </a:xfrm>
          <a:prstGeom prst="line">
            <a:avLst/>
          </a:prstGeom>
          <a:noFill/>
          <a:ln w="12700">
            <a:solidFill>
              <a:srgbClr val="B6C3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17320"/>
            <a:ext cx="11201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регулятора и веса неизменны; меняется только q_target.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20240"/>
          <a:ext cx="61264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417320"/>
                <a:gridCol w="1417320"/>
                <a:gridCol w="1280160"/>
                <a:gridCol w="11887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Цель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RMS(e_q), рад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max|e_q|, рад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e_q(t_f), рад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u_energy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0.00141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0.00299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0.00186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0.00252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0.00747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0.00333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212.2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0.00403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0.00896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0.00534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598.4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02920" y="4114800"/>
            <a:ext cx="6126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[0.4, −0.3, 0.4, −0.2, 0.3, −0.15]  — умеренная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[1.0, 0.0, 0.8, 0.0, 0.4, 0.0]  — асимметричная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[1.2, −0.9, 1.0, −0.7, 0.8, −0.5]  — широкая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02920" y="5760720"/>
            <a:ext cx="612648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5760720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C: ошибки и u_energy растут монотонно, регулятор сохраняет работоспособность.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858000" y="1920240"/>
            <a:ext cx="4830775" cy="4498848"/>
          </a:xfrm>
          <a:prstGeom prst="rect">
            <a:avLst/>
          </a:prstGeom>
          <a:solidFill>
            <a:srgbClr val="F4F6FB"/>
          </a:solidFill>
          <a:ln w="12700">
            <a:solidFill>
              <a:srgbClr val="B6C3E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0" y="1965960"/>
            <a:ext cx="48307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результатов по метрикам</a:t>
            </a:r>
            <a:endParaRPr lang="en-US" sz="1400" dirty="0"/>
          </a:p>
        </p:txBody>
      </p:sp>
      <p:pic>
        <p:nvPicPr>
          <p:cNvPr id="13" name="Image 0" descr="/sessions/cool-gracious-johnson/figs_exp/word/media/imag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2722314"/>
            <a:ext cx="4647895" cy="3169019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2920" y="6638544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Субоптимальный алгоритм управления манипулятором на основе мультимодальных входных данных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0972800" y="6638544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7B538"/>
          </a:solidFill>
          <a:ln w="12700">
            <a:solidFill>
              <a:srgbClr val="F7B5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7B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 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и направления развития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11201400" cy="0"/>
          </a:xfrm>
          <a:prstGeom prst="line">
            <a:avLst/>
          </a:prstGeom>
          <a:noFill/>
          <a:ln w="12700">
            <a:solidFill>
              <a:srgbClr val="F7B5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45920"/>
            <a:ext cx="1120140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F7B5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83080"/>
            <a:ext cx="10652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ВЫВОД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148840"/>
            <a:ext cx="10652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Конечногоризонтный LQR-регулятор обеспечивает устойчивое слежение UR5e за minimum-jerk-траекторией: RMS(e_q) ≈ 10⁻³ рад при умеренном уровне u_energy для целого класса целевых конфигураций.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02920" y="4023360"/>
            <a:ext cx="5440680" cy="2423160"/>
          </a:xfrm>
          <a:prstGeom prst="rect">
            <a:avLst/>
          </a:prstGeom>
          <a:solidFill>
            <a:srgbClr val="2A3A78"/>
          </a:solidFill>
          <a:ln w="12700">
            <a:solidFill>
              <a:srgbClr val="F7B5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4023360"/>
            <a:ext cx="5440680" cy="73152"/>
          </a:xfrm>
          <a:prstGeom prst="rect">
            <a:avLst/>
          </a:prstGeom>
          <a:solidFill>
            <a:srgbClr val="F7B538"/>
          </a:solidFill>
          <a:ln w="12700">
            <a:solidFill>
              <a:srgbClr val="F7B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2062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7B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4617720"/>
            <a:ext cx="5029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Базовый эксперимент: RMS(e_q) = 0.0026 рад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Цели A→C: монотонное усложнение, схема устойчива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w_u влияет на точность, но не монотонно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0" y="4023360"/>
            <a:ext cx="5440680" cy="2423160"/>
          </a:xfrm>
          <a:prstGeom prst="rect">
            <a:avLst/>
          </a:prstGeom>
          <a:solidFill>
            <a:srgbClr val="2A3A78"/>
          </a:solidFill>
          <a:ln w="12700">
            <a:solidFill>
              <a:srgbClr val="F7B5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4023360"/>
            <a:ext cx="5440680" cy="73152"/>
          </a:xfrm>
          <a:prstGeom prst="rect">
            <a:avLst/>
          </a:prstGeom>
          <a:solidFill>
            <a:srgbClr val="F7B538"/>
          </a:solidFill>
          <a:ln w="12700">
            <a:solidFill>
              <a:srgbClr val="F7B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9400" y="42062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7B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НАПРАВЛЕНИЯ РАЗВИТИЯ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629400" y="4617720"/>
            <a:ext cx="5029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Расширить множество целевых конфигураций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Подробный анализ чувствительности к весам LQR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 к экспериментам на физическом UR5e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7B538"/>
          </a:solidFill>
          <a:ln w="12700">
            <a:solidFill>
              <a:srgbClr val="F7B5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638544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Субоптимальный алгоритм управления манипулятором на основе мультимодальных входных данных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972800" y="6638544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Субоптимальный алгоритм управления робототехническим манипулятором на основе мультимодальных входных данных</dc:title>
  <dc:subject>PptxGenJS Presentation</dc:subject>
  <dc:creator>UR5e LQR</dc:creator>
  <cp:lastModifiedBy>UR5e LQR</cp:lastModifiedBy>
  <cp:revision>1</cp:revision>
  <dcterms:created xsi:type="dcterms:W3CDTF">2026-04-22T20:40:09Z</dcterms:created>
  <dcterms:modified xsi:type="dcterms:W3CDTF">2026-04-22T20:40:09Z</dcterms:modified>
</cp:coreProperties>
</file>