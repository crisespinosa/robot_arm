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  <p:sldMasterId id="2147483676" r:id="rId2"/>
  </p:sldMasterIdLst>
  <p:notesMasterIdLst>
    <p:notesMasterId r:id="rId9"/>
  </p:notesMasterIdLst>
  <p:sldIdLst>
    <p:sldId id="260" r:id="rId3"/>
    <p:sldId id="256" r:id="rId4"/>
    <p:sldId id="257" r:id="rId5"/>
    <p:sldId id="261" r:id="rId6"/>
    <p:sldId id="258" r:id="rId7"/>
    <p:sldId id="259" r:id="rId8"/>
  </p:sldIdLst>
  <p:sldSz cx="12192000" cy="6858000"/>
  <p:notesSz cx="6858000" cy="12192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3A78"/>
    <a:srgbClr val="92B2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68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0087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6903F-6636-F76C-5DB5-49BB78BAB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973757-0B86-D5CB-B71B-DDD1004065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6DC278-10AF-91F4-AF5A-3014FE770D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0F0DA-A282-B8A7-AA12-CBFD555243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6609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408E3C-A475-7BD8-7C87-EAD02A957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3D2963D-7C45-6DF9-1230-2983016568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4A9346-F60B-B8BD-39F6-647F7CB79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5B1DFB-ED4D-E74B-212D-171EE684E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0D4D4A-AD74-82BC-E40D-2D47821C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31813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2312EE-7416-75D5-2DF9-81C0BAA0F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1D06E1-CBE9-242A-6E15-BB097A631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74AFE0-E90B-A609-54FD-4A5E70C0A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4C0A64-097C-4EEE-CF68-2F4017709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C15659-ADAA-4E17-EEC6-BA0CBF4DF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05366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F90627-53E2-9912-2F74-6A99B8BE1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EDFE7D-2DE3-9413-C27C-6F7A9F858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6EF21F-6C3D-AAAD-075D-7F8F3B630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F94724-A0D5-478F-0598-B475A7B1C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276E18-8534-5DF0-18BE-93E3FBD96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05936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9641BE-C191-1E79-BDD8-CCEF6E9CD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5FA4BF-0ECE-A007-59ED-3A0011E32E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F219B1D-0C63-D889-ED7E-0109C3EB8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7204BAD-4E0B-D514-C9BC-913FA5A16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CA93F7-4581-F9B7-EF66-67ECEC865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D3AAA03-269F-8129-D60F-71308C663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12155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5A4BC8-22A5-30D3-6D6A-502F45EA9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DA1D3F-75DC-179C-483F-DA2A8615C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E7CB0BD-D748-C192-4EAD-AAEE59816E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CD8425F-FA33-0F7E-B6A7-CAD1688C00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AB6C685-FDF3-D5E3-A641-2B60EB0E91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BB7BE1C-8254-D193-7781-E5335B385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B672475-9421-21BA-C82A-759C631C7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61DAC33-3207-B913-4FD0-FA4D15F9F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10931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EE458B-830C-4235-4619-7859C4E1E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14C0947-C551-3B38-E237-82D860E76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4466870-D872-5ABA-51BD-C67E8740B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6EBF53C-965F-6BAF-099A-F6B1480CF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76719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D875182-809F-FC8F-4FF8-6E36F591E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C0656AB-F565-072D-9A16-BD2526630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207042-44EA-D0F3-0F74-C17DED01F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28904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C6F94D-6D1D-F03D-B12B-9657ECDAF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ABB182-188B-F1EF-E798-4B6FDEED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1C48122-9DA1-836B-F3F5-75CB3A675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00721E-5CF7-154E-8DAE-D7F05B5C2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C204831-3968-9740-79B0-78FE2983E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AB7AD5-A929-69F7-F76C-DB157CABA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39425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F1103A-1E77-480F-8D09-23497809C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DEDF0B8-3204-AD57-2D0A-0FBC45D0F8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E7E04EE-EB45-BAB9-8B9C-89976D8CBE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D7E6B1B-F7DD-29EA-C5F2-B41E35A86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9D6C15B-1461-78E6-DA8E-3988E72D0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9E78B3-D9E3-5FE7-7FA5-5A1FD2158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96624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5AC257-4AFC-193B-975F-C6DDA727F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D9FC454-1F75-95E0-0A14-7F449DCC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5A8F76-42CA-C07D-4305-4C7B2E042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78C8EB-7C8B-595B-3AA4-5C758625D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3DCEE2-4C5F-507F-2E74-51166DF3C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2761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62442A4-B0C2-ACBE-BFF3-48EB064D72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921CA19-9D76-F7AF-0EAF-A90DB1CD5D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2279C8-3130-3DBF-193F-D73C578D3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B62867-87BB-B6D0-4611-FB76B4439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640313-CDFE-F775-5FFA-1B7CBBE75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62993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39869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2239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B54F962-63E5-C4EB-0F09-D930DFBCD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B514DD-068D-200C-2A6E-EAF456FD7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AC35EC-214F-B8EA-A5CF-92F558C044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7EF9D3-B4DF-2336-D93D-1F002E5857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E66428-D006-4DC6-9644-4AC240D0F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44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84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B2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021208-031F-FED8-E1D8-9656D1092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">
            <a:extLst>
              <a:ext uri="{FF2B5EF4-FFF2-40B4-BE49-F238E27FC236}">
                <a16:creationId xmlns:a16="http://schemas.microsoft.com/office/drawing/2014/main" id="{DB024EDC-7E2B-FC8F-D95E-8879D5EA8B45}"/>
              </a:ext>
            </a:extLst>
          </p:cNvPr>
          <p:cNvSpPr/>
          <p:nvPr/>
        </p:nvSpPr>
        <p:spPr>
          <a:xfrm>
            <a:off x="595731" y="773489"/>
            <a:ext cx="11118941" cy="1805119"/>
          </a:xfrm>
          <a:prstGeom prst="rect">
            <a:avLst/>
          </a:prstGeom>
          <a:solidFill>
            <a:srgbClr val="2A3A78"/>
          </a:solidFill>
          <a:ln w="25400">
            <a:solidFill>
              <a:schemeClr val="tx2">
                <a:lumMod val="10000"/>
                <a:lumOff val="90000"/>
              </a:schemeClr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70E391B4-B5F6-7B47-4287-0C183E2F9662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AFDB7C2-2854-17D3-2A3C-D7FA3C89BBC0}"/>
              </a:ext>
            </a:extLst>
          </p:cNvPr>
          <p:cNvSpPr/>
          <p:nvPr/>
        </p:nvSpPr>
        <p:spPr>
          <a:xfrm>
            <a:off x="380847" y="1415641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Субоптимальный алгоритм управления робототехническим манипулятором</a:t>
            </a:r>
            <a:endParaRPr lang="en-US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на основе мультимодальных входных данных</a:t>
            </a:r>
            <a:endParaRPr lang="en-US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915B0C06-156D-7D0A-7277-5DF9C8779F68}"/>
              </a:ext>
            </a:extLst>
          </p:cNvPr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9A0B22CD-CACB-9679-08CF-C6B255AAD0AD}"/>
              </a:ext>
            </a:extLst>
          </p:cNvPr>
          <p:cNvSpPr/>
          <p:nvPr/>
        </p:nvSpPr>
        <p:spPr>
          <a:xfrm>
            <a:off x="502920" y="6638544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6492224A-E38C-B25B-75EB-725D71CE9206}"/>
              </a:ext>
            </a:extLst>
          </p:cNvPr>
          <p:cNvSpPr/>
          <p:nvPr/>
        </p:nvSpPr>
        <p:spPr>
          <a:xfrm>
            <a:off x="10972800" y="663854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</a:t>
            </a:r>
            <a:endParaRPr lang="en-US" sz="1000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61DA764-6E9E-8C89-FB1C-0675B7A1AC20}"/>
              </a:ext>
            </a:extLst>
          </p:cNvPr>
          <p:cNvSpPr txBox="1"/>
          <p:nvPr/>
        </p:nvSpPr>
        <p:spPr>
          <a:xfrm>
            <a:off x="502920" y="3108146"/>
            <a:ext cx="118239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качества слежения манипулятора </a:t>
            </a:r>
            <a:r>
              <a:rPr lang="es-MX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</a:t>
            </a:r>
            <a:r>
              <a:rPr lang="ru-RU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s-MX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u-RU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при управлении </a:t>
            </a:r>
            <a:r>
              <a:rPr lang="ru-RU" b="1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конечногоризонтным</a:t>
            </a:r>
            <a:r>
              <a:rPr lang="ru-RU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LQR</a:t>
            </a:r>
            <a:r>
              <a:rPr lang="ru-RU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-регулятором</a:t>
            </a:r>
            <a:endParaRPr lang="es-MX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Oval 9">
            <a:extLst>
              <a:ext uri="{FF2B5EF4-FFF2-40B4-BE49-F238E27FC236}">
                <a16:creationId xmlns:a16="http://schemas.microsoft.com/office/drawing/2014/main" id="{14593F1C-05AF-6CA6-D7F9-996FC84787EB}"/>
              </a:ext>
            </a:extLst>
          </p:cNvPr>
          <p:cNvSpPr/>
          <p:nvPr/>
        </p:nvSpPr>
        <p:spPr>
          <a:xfrm>
            <a:off x="1097280" y="4892040"/>
            <a:ext cx="292608" cy="292608"/>
          </a:xfrm>
          <a:prstGeom prst="ellipse">
            <a:avLst/>
          </a:prstGeom>
          <a:solidFill>
            <a:srgbClr val="2A3A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10">
            <a:extLst>
              <a:ext uri="{FF2B5EF4-FFF2-40B4-BE49-F238E27FC236}">
                <a16:creationId xmlns:a16="http://schemas.microsoft.com/office/drawing/2014/main" id="{95FE8D37-4049-2309-6CBB-187C789EEB64}"/>
              </a:ext>
            </a:extLst>
          </p:cNvPr>
          <p:cNvSpPr/>
          <p:nvPr/>
        </p:nvSpPr>
        <p:spPr>
          <a:xfrm>
            <a:off x="2011680" y="4434840"/>
            <a:ext cx="292608" cy="292608"/>
          </a:xfrm>
          <a:prstGeom prst="ellipse">
            <a:avLst/>
          </a:prstGeom>
          <a:solidFill>
            <a:srgbClr val="2A3A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Connector 11">
            <a:extLst>
              <a:ext uri="{FF2B5EF4-FFF2-40B4-BE49-F238E27FC236}">
                <a16:creationId xmlns:a16="http://schemas.microsoft.com/office/drawing/2014/main" id="{A62E9F2B-B049-F678-A869-B7C6DCB2B1D0}"/>
              </a:ext>
            </a:extLst>
          </p:cNvPr>
          <p:cNvCxnSpPr/>
          <p:nvPr/>
        </p:nvCxnSpPr>
        <p:spPr>
          <a:xfrm flipV="1">
            <a:off x="1243584" y="4581144"/>
            <a:ext cx="914400" cy="45720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1" name="Oval 12">
            <a:extLst>
              <a:ext uri="{FF2B5EF4-FFF2-40B4-BE49-F238E27FC236}">
                <a16:creationId xmlns:a16="http://schemas.microsoft.com/office/drawing/2014/main" id="{048812C2-C7FE-4AD0-F9E0-E9F4016A1887}"/>
              </a:ext>
            </a:extLst>
          </p:cNvPr>
          <p:cNvSpPr/>
          <p:nvPr/>
        </p:nvSpPr>
        <p:spPr>
          <a:xfrm>
            <a:off x="2880360" y="4754880"/>
            <a:ext cx="292608" cy="292608"/>
          </a:xfrm>
          <a:prstGeom prst="ellipse">
            <a:avLst/>
          </a:prstGeom>
          <a:solidFill>
            <a:srgbClr val="2A3A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Connector 13">
            <a:extLst>
              <a:ext uri="{FF2B5EF4-FFF2-40B4-BE49-F238E27FC236}">
                <a16:creationId xmlns:a16="http://schemas.microsoft.com/office/drawing/2014/main" id="{44D4EBB1-0CE4-9DF2-ACB8-B43F7D301D07}"/>
              </a:ext>
            </a:extLst>
          </p:cNvPr>
          <p:cNvCxnSpPr/>
          <p:nvPr/>
        </p:nvCxnSpPr>
        <p:spPr>
          <a:xfrm>
            <a:off x="2157984" y="4581144"/>
            <a:ext cx="868680" cy="320040"/>
          </a:xfrm>
          <a:prstGeom prst="line">
            <a:avLst/>
          </a:prstGeom>
          <a:ln w="2794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14">
            <a:extLst>
              <a:ext uri="{FF2B5EF4-FFF2-40B4-BE49-F238E27FC236}">
                <a16:creationId xmlns:a16="http://schemas.microsoft.com/office/drawing/2014/main" id="{5689FB52-DA9C-1F6D-01A7-B3121E45759F}"/>
              </a:ext>
            </a:extLst>
          </p:cNvPr>
          <p:cNvSpPr/>
          <p:nvPr/>
        </p:nvSpPr>
        <p:spPr>
          <a:xfrm>
            <a:off x="3794760" y="4160520"/>
            <a:ext cx="292608" cy="292608"/>
          </a:xfrm>
          <a:prstGeom prst="ellipse">
            <a:avLst/>
          </a:prstGeom>
          <a:solidFill>
            <a:srgbClr val="2A3A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4" name="Connector 15">
            <a:extLst>
              <a:ext uri="{FF2B5EF4-FFF2-40B4-BE49-F238E27FC236}">
                <a16:creationId xmlns:a16="http://schemas.microsoft.com/office/drawing/2014/main" id="{B0259DE5-1256-6681-7CDB-92D60A9EA001}"/>
              </a:ext>
            </a:extLst>
          </p:cNvPr>
          <p:cNvCxnSpPr/>
          <p:nvPr/>
        </p:nvCxnSpPr>
        <p:spPr>
          <a:xfrm flipV="1">
            <a:off x="3026664" y="4306824"/>
            <a:ext cx="914400" cy="594360"/>
          </a:xfrm>
          <a:prstGeom prst="line">
            <a:avLst/>
          </a:prstGeom>
          <a:ln w="2794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16">
            <a:extLst>
              <a:ext uri="{FF2B5EF4-FFF2-40B4-BE49-F238E27FC236}">
                <a16:creationId xmlns:a16="http://schemas.microsoft.com/office/drawing/2014/main" id="{60D9E03F-90D6-7501-9871-DDBB44037B47}"/>
              </a:ext>
            </a:extLst>
          </p:cNvPr>
          <p:cNvSpPr/>
          <p:nvPr/>
        </p:nvSpPr>
        <p:spPr>
          <a:xfrm>
            <a:off x="4709160" y="4434840"/>
            <a:ext cx="292608" cy="292608"/>
          </a:xfrm>
          <a:prstGeom prst="ellipse">
            <a:avLst/>
          </a:prstGeom>
          <a:solidFill>
            <a:srgbClr val="2A3A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6" name="Connector 17">
            <a:extLst>
              <a:ext uri="{FF2B5EF4-FFF2-40B4-BE49-F238E27FC236}">
                <a16:creationId xmlns:a16="http://schemas.microsoft.com/office/drawing/2014/main" id="{C380762A-433E-2920-B87A-DF08A48076F3}"/>
              </a:ext>
            </a:extLst>
          </p:cNvPr>
          <p:cNvCxnSpPr/>
          <p:nvPr/>
        </p:nvCxnSpPr>
        <p:spPr>
          <a:xfrm>
            <a:off x="3941064" y="4306824"/>
            <a:ext cx="914400" cy="274320"/>
          </a:xfrm>
          <a:prstGeom prst="line">
            <a:avLst/>
          </a:prstGeom>
          <a:ln w="2794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18">
            <a:extLst>
              <a:ext uri="{FF2B5EF4-FFF2-40B4-BE49-F238E27FC236}">
                <a16:creationId xmlns:a16="http://schemas.microsoft.com/office/drawing/2014/main" id="{4483FBC3-7ACB-6C09-A12E-2E95B0273E2B}"/>
              </a:ext>
            </a:extLst>
          </p:cNvPr>
          <p:cNvSpPr/>
          <p:nvPr/>
        </p:nvSpPr>
        <p:spPr>
          <a:xfrm>
            <a:off x="5577840" y="3794760"/>
            <a:ext cx="292608" cy="29260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8" name="Connector 19">
            <a:extLst>
              <a:ext uri="{FF2B5EF4-FFF2-40B4-BE49-F238E27FC236}">
                <a16:creationId xmlns:a16="http://schemas.microsoft.com/office/drawing/2014/main" id="{4DC09B1F-34A8-245F-39F2-06BF8F710DC2}"/>
              </a:ext>
            </a:extLst>
          </p:cNvPr>
          <p:cNvCxnSpPr/>
          <p:nvPr/>
        </p:nvCxnSpPr>
        <p:spPr>
          <a:xfrm flipV="1">
            <a:off x="4855464" y="3941064"/>
            <a:ext cx="868680" cy="640080"/>
          </a:xfrm>
          <a:prstGeom prst="line">
            <a:avLst/>
          </a:prstGeom>
          <a:ln w="2794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uadroTexto 48">
            <a:extLst>
              <a:ext uri="{FF2B5EF4-FFF2-40B4-BE49-F238E27FC236}">
                <a16:creationId xmlns:a16="http://schemas.microsoft.com/office/drawing/2014/main" id="{E0DAF6AB-4E7F-36AD-E8AC-224A5FDC976B}"/>
              </a:ext>
            </a:extLst>
          </p:cNvPr>
          <p:cNvSpPr txBox="1"/>
          <p:nvPr/>
        </p:nvSpPr>
        <p:spPr>
          <a:xfrm>
            <a:off x="8630041" y="5494312"/>
            <a:ext cx="3696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Эспиноса </a:t>
            </a:r>
            <a:r>
              <a:rPr lang="ru-RU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Василита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Кристина М.</a:t>
            </a:r>
          </a:p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Группа НКНбд-01-22</a:t>
            </a:r>
            <a:endParaRPr lang="es-MX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899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090" y="-9144"/>
            <a:ext cx="201168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ЦЕЛЬ · ЗАДАЧИ · МЕТОДЫ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8398" y="508145"/>
            <a:ext cx="11201400" cy="0"/>
          </a:xfrm>
          <a:prstGeom prst="line">
            <a:avLst/>
          </a:prstGeom>
          <a:noFill/>
          <a:ln w="12700">
            <a:solidFill>
              <a:srgbClr val="B6C3E0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24616" y="719380"/>
            <a:ext cx="5549620" cy="1188720"/>
          </a:xfrm>
          <a:prstGeom prst="rect">
            <a:avLst/>
          </a:prstGeom>
          <a:solidFill>
            <a:srgbClr val="F4F6FB"/>
          </a:solidFill>
          <a:ln w="12700">
            <a:solidFill>
              <a:srgbClr val="B6C3E0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1165" y="719379"/>
            <a:ext cx="100584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6998" y="770709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ЦЕЛЬ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62940" y="1029353"/>
            <a:ext cx="5136224" cy="805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dirty="0">
                <a:solidFill>
                  <a:srgbClr val="232B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Исследовать качество слежения UR5e при управлении </a:t>
            </a:r>
            <a:r>
              <a:rPr lang="ru-RU" dirty="0" err="1">
                <a:solidFill>
                  <a:srgbClr val="232B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конечногоризонтным</a:t>
            </a:r>
            <a:r>
              <a:rPr lang="ru-RU" dirty="0">
                <a:solidFill>
                  <a:srgbClr val="232B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LQR-регулятором в симуляционной среде.</a:t>
            </a:r>
          </a:p>
        </p:txBody>
      </p:sp>
      <p:sp>
        <p:nvSpPr>
          <p:cNvPr id="10" name="Shape 8"/>
          <p:cNvSpPr/>
          <p:nvPr/>
        </p:nvSpPr>
        <p:spPr>
          <a:xfrm>
            <a:off x="430178" y="2103661"/>
            <a:ext cx="5577840" cy="2148840"/>
          </a:xfrm>
          <a:prstGeom prst="rect">
            <a:avLst/>
          </a:prstGeom>
          <a:solidFill>
            <a:srgbClr val="F4F6FB"/>
          </a:solidFill>
          <a:ln w="12700">
            <a:solidFill>
              <a:srgbClr val="B6C3E0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42343" y="2103661"/>
            <a:ext cx="100584" cy="2148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1039" y="229645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ЗАДАЧИ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18229" y="2465849"/>
            <a:ext cx="5532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32B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движения в суставном </a:t>
            </a:r>
            <a:r>
              <a:rPr lang="ru-RU" dirty="0" err="1">
                <a:solidFill>
                  <a:srgbClr val="232B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пространствеопорная</a:t>
            </a:r>
            <a:r>
              <a:rPr lang="ru-RU" dirty="0">
                <a:solidFill>
                  <a:srgbClr val="232B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solidFill>
                <a:srgbClr val="232B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32B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Траектория с минимизацией </a:t>
            </a:r>
            <a:r>
              <a:rPr lang="ru-RU" dirty="0" err="1">
                <a:solidFill>
                  <a:srgbClr val="232B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рывкаразработка</a:t>
            </a:r>
            <a:r>
              <a:rPr lang="ru-RU" dirty="0">
                <a:solidFill>
                  <a:srgbClr val="232B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solidFill>
                <a:srgbClr val="232B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rgbClr val="232B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Конечногоризонтного</a:t>
            </a:r>
            <a:r>
              <a:rPr lang="ru-RU" dirty="0">
                <a:solidFill>
                  <a:srgbClr val="232B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LQR-</a:t>
            </a:r>
            <a:r>
              <a:rPr lang="ru-RU" dirty="0" err="1">
                <a:solidFill>
                  <a:srgbClr val="232B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регулятораинтеграция</a:t>
            </a:r>
            <a:r>
              <a:rPr lang="ru-RU" dirty="0">
                <a:solidFill>
                  <a:srgbClr val="232B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endParaRPr lang="en-US" dirty="0">
              <a:solidFill>
                <a:srgbClr val="232B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32B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Полной нелинейной </a:t>
            </a:r>
            <a:r>
              <a:rPr lang="ru-RU" dirty="0" err="1">
                <a:solidFill>
                  <a:srgbClr val="232B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динамикойчисленные</a:t>
            </a:r>
            <a:r>
              <a:rPr lang="ru-RU" dirty="0">
                <a:solidFill>
                  <a:srgbClr val="232B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solidFill>
                <a:srgbClr val="232B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32B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Эксперименты и анализ метрик</a:t>
            </a:r>
          </a:p>
        </p:txBody>
      </p:sp>
      <p:sp>
        <p:nvSpPr>
          <p:cNvPr id="14" name="Shape 12"/>
          <p:cNvSpPr/>
          <p:nvPr/>
        </p:nvSpPr>
        <p:spPr>
          <a:xfrm>
            <a:off x="447476" y="4536729"/>
            <a:ext cx="5577840" cy="1701549"/>
          </a:xfrm>
          <a:prstGeom prst="rect">
            <a:avLst/>
          </a:prstGeom>
          <a:solidFill>
            <a:srgbClr val="F4F6FB"/>
          </a:solidFill>
          <a:ln w="12700">
            <a:solidFill>
              <a:srgbClr val="B6C3E0"/>
            </a:solidFill>
            <a:prstDash val="solid"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24616" y="4536730"/>
            <a:ext cx="100584" cy="17015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81039" y="453673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МЕТОДЫ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1864" y="4953173"/>
            <a:ext cx="5532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Опорная траектория с минимизацией рывка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Локальная модель ошибки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Конечногоризонтный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LQR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Рекурсия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Риккатиобратная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Полная нелинейная динамика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0"/>
          <p:cNvSpPr/>
          <p:nvPr/>
        </p:nvSpPr>
        <p:spPr>
          <a:xfrm>
            <a:off x="10972800" y="663854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10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09AF7BE-D63F-8617-CC15-3666CFCFB6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9098" y="684125"/>
            <a:ext cx="5859436" cy="5009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РЕЗУЛЬТАТЫ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6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Базовый эксперимент: слежение и моменты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201400" cy="0"/>
          </a:xfrm>
          <a:prstGeom prst="line">
            <a:avLst/>
          </a:prstGeom>
          <a:noFill/>
          <a:ln w="12700">
            <a:solidFill>
              <a:srgbClr val="B6C3E0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201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4A55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q_start = 0,  q_target = [0.8, −0.6, 0.7, −0.4, 0.5, −0.3],  T = 1.5 с,  dt = 0.02 с,  wq = 30, w_q̇ = 2, wu = 0.1, N = 20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266319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" y="3218688"/>
            <a:ext cx="2663190" cy="73152"/>
          </a:xfrm>
          <a:prstGeom prst="rect">
            <a:avLst/>
          </a:prstGeom>
          <a:solidFill>
            <a:srgbClr val="F7B538"/>
          </a:solidFill>
          <a:ln w="12700">
            <a:solidFill>
              <a:srgbClr val="F7B538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25717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0.0026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25717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RMS(e_q), рад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348990" y="1874520"/>
            <a:ext cx="266319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348990" y="3218688"/>
            <a:ext cx="2663190" cy="73152"/>
          </a:xfrm>
          <a:prstGeom prst="rect">
            <a:avLst/>
          </a:prstGeom>
          <a:solidFill>
            <a:srgbClr val="F7B538"/>
          </a:solidFill>
          <a:ln w="12700">
            <a:solidFill>
              <a:srgbClr val="F7B538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94710" y="2011680"/>
            <a:ext cx="25717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0.0060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94710" y="2788920"/>
            <a:ext cx="25717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max|e_q|, рад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195060" y="1874520"/>
            <a:ext cx="266319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95060" y="3218688"/>
            <a:ext cx="2663190" cy="73152"/>
          </a:xfrm>
          <a:prstGeom prst="rect">
            <a:avLst/>
          </a:prstGeom>
          <a:solidFill>
            <a:srgbClr val="F7B538"/>
          </a:solidFill>
          <a:ln w="12700">
            <a:solidFill>
              <a:srgbClr val="F7B538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40780" y="2011680"/>
            <a:ext cx="25717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0.0035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240780" y="2788920"/>
            <a:ext cx="25717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e_q(t_f), рад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041130" y="1874520"/>
            <a:ext cx="266319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041130" y="3218688"/>
            <a:ext cx="2663190" cy="73152"/>
          </a:xfrm>
          <a:prstGeom prst="rect">
            <a:avLst/>
          </a:prstGeom>
          <a:solidFill>
            <a:srgbClr val="F7B538"/>
          </a:solidFill>
          <a:ln w="12700">
            <a:solidFill>
              <a:srgbClr val="F7B538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086850" y="2011680"/>
            <a:ext cx="25717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289.1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086850" y="2788920"/>
            <a:ext cx="25717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u_energy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02920" y="3520440"/>
            <a:ext cx="5509260" cy="2880360"/>
          </a:xfrm>
          <a:prstGeom prst="rect">
            <a:avLst/>
          </a:prstGeom>
          <a:solidFill>
            <a:srgbClr val="F4F6FB"/>
          </a:solidFill>
          <a:ln w="12700">
            <a:solidFill>
              <a:srgbClr val="B6C3E0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02920" y="3566160"/>
            <a:ext cx="5509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Слежение: q(t) vs q_ref(t)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Image 0" descr="/sessions/cool-gracious-johnson/figs_exp/word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741" y="3886200"/>
            <a:ext cx="4443617" cy="242316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6195060" y="3520440"/>
            <a:ext cx="5509260" cy="2880360"/>
          </a:xfrm>
          <a:prstGeom prst="rect">
            <a:avLst/>
          </a:prstGeom>
          <a:solidFill>
            <a:srgbClr val="F4F6FB"/>
          </a:solidFill>
          <a:ln w="12700">
            <a:solidFill>
              <a:srgbClr val="B6C3E0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195060" y="3566160"/>
            <a:ext cx="5509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Профили управляющих моментов τ(t)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Image 1" descr="/sessions/cool-gracious-johnson/figs_exp/word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9097" y="3886200"/>
            <a:ext cx="4841186" cy="242316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7"/>
          <p:cNvSpPr/>
          <p:nvPr/>
        </p:nvSpPr>
        <p:spPr>
          <a:xfrm>
            <a:off x="10972800" y="663854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 / 6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40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РЕЗУЛЬТАТЫ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/>
              <p:nvPr/>
            </p:nvSpPr>
            <p:spPr>
              <a:xfrm>
                <a:off x="502920" y="566928"/>
                <a:ext cx="11430000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1626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itchFamily="34" charset="-122"/>
                    <a:cs typeface="Times New Roman" panose="02020603050405020304" pitchFamily="18" charset="0"/>
                  </a:rPr>
                  <a:t>Влияние веса управления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32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F16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sz="32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F16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itchFamily="34" charset="-122"/>
                            <a:cs typeface="Times New Roman" panose="02020603050405020304" pitchFamily="18" charset="0"/>
                          </a:rPr>
                          <m:t>𝒘</m:t>
                        </m:r>
                      </m:e>
                      <m:sub>
                        <m:r>
                          <a:rPr kumimoji="0" lang="en-US" sz="32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F16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itchFamily="34" charset="-122"/>
                            <a:cs typeface="Times New Roman" panose="02020603050405020304" pitchFamily="18" charset="0"/>
                          </a:rPr>
                          <m:t>𝒖</m:t>
                        </m:r>
                      </m:sub>
                    </m:sSub>
                  </m:oMath>
                </a14:m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Tex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566928"/>
                <a:ext cx="11430000" cy="685800"/>
              </a:xfrm>
              <a:prstGeom prst="rect">
                <a:avLst/>
              </a:prstGeom>
              <a:blipFill>
                <a:blip r:embed="rId3"/>
                <a:stretch>
                  <a:fillRect l="-2187" t="-4425" b="-20354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hape 3"/>
          <p:cNvSpPr/>
          <p:nvPr/>
        </p:nvSpPr>
        <p:spPr>
          <a:xfrm>
            <a:off x="502920" y="1298448"/>
            <a:ext cx="11201400" cy="0"/>
          </a:xfrm>
          <a:prstGeom prst="line">
            <a:avLst/>
          </a:prstGeom>
          <a:noFill/>
          <a:ln w="12700">
            <a:solidFill>
              <a:srgbClr val="B6C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201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4A5578"/>
                </a:solidFill>
                <a:effectLst/>
                <a:uLnTx/>
                <a:uFillTx/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Варьируется только w_u; остальные веса и горизонт N = 20 фиксированы.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02920" y="1920240"/>
          <a:ext cx="6126480" cy="23317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w_u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RMS(e_q), рад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max|e_q|, рад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u_energy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0.00197 ★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0.00431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290.31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0.00249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0.00578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289.65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0.00264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0.00598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289.09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0.00258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0.00557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288.85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0.00244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0.00512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288.79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5"/>
              <p:cNvSpPr/>
              <p:nvPr/>
            </p:nvSpPr>
            <p:spPr>
              <a:xfrm>
                <a:off x="502920" y="4434840"/>
                <a:ext cx="6126480" cy="1371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E276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itchFamily="34" charset="-122"/>
                    <a:cs typeface="Times New Roman" panose="02020603050405020304" pitchFamily="18" charset="0"/>
                  </a:rPr>
                  <a:t>★ 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1626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itchFamily="34" charset="-122"/>
                    <a:cs typeface="Times New Roman" panose="02020603050405020304" pitchFamily="18" charset="0"/>
                  </a:rPr>
                  <a:t>Минимум ошибки при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F16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F16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itchFamily="34" charset="-122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kumimoji="0" lang="en-US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F162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itchFamily="34" charset="-122"/>
                            <a:cs typeface="Times New Roman" panose="02020603050405020304" pitchFamily="18" charset="0"/>
                          </a:rPr>
                          <m:t>𝑢</m:t>
                        </m:r>
                      </m:sub>
                    </m:sSub>
                    <m:r>
                      <a:rPr kumimoji="0" lang="en-US" sz="1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F1626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itchFamily="34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1626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itchFamily="34" charset="-122"/>
                    <a:cs typeface="Times New Roman" panose="02020603050405020304" pitchFamily="18" charset="0"/>
                  </a:rPr>
                  <a:t>= 1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E276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itchFamily="34" charset="-122"/>
                    <a:cs typeface="Times New Roman" panose="02020603050405020304" pitchFamily="18" charset="0"/>
                  </a:rPr>
                  <a:t>• 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1626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itchFamily="34" charset="-122"/>
                    <a:cs typeface="Times New Roman" panose="02020603050405020304" pitchFamily="18" charset="0"/>
                  </a:rPr>
                  <a:t>u_energy почти не меняется: 288.8 … 290.3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E276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itchFamily="34" charset="-122"/>
                    <a:cs typeface="Times New Roman" panose="02020603050405020304" pitchFamily="18" charset="0"/>
                  </a:rPr>
                  <a:t>• 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1626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itchFamily="34" charset="-122"/>
                    <a:cs typeface="Times New Roman" panose="02020603050405020304" pitchFamily="18" charset="0"/>
                  </a:rPr>
                  <a:t>Зависимость от w_u не является монотонной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4434840"/>
                <a:ext cx="6126480" cy="1371600"/>
              </a:xfrm>
              <a:prstGeom prst="rect">
                <a:avLst/>
              </a:prstGeom>
              <a:blipFill>
                <a:blip r:embed="rId4"/>
                <a:stretch>
                  <a:fillRect l="-2388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6"/>
          <p:cNvSpPr/>
          <p:nvPr/>
        </p:nvSpPr>
        <p:spPr>
          <a:xfrm>
            <a:off x="502920" y="5897880"/>
            <a:ext cx="612648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0080" y="58978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Штраф w_u меняет точность слежения, почти не влияя на суммарную энергию управления.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858000" y="1920240"/>
            <a:ext cx="4830775" cy="4526280"/>
          </a:xfrm>
          <a:prstGeom prst="rect">
            <a:avLst/>
          </a:prstGeom>
          <a:solidFill>
            <a:srgbClr val="F4F6FB"/>
          </a:solidFill>
          <a:ln w="12700">
            <a:solidFill>
              <a:srgbClr val="B6C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858000" y="1965960"/>
            <a:ext cx="4830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Компромисс: RMS(e_q) vs u_energy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0" descr="/sessions/cool-gracious-johnson/figs_exp/word/media/imag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2383475"/>
            <a:ext cx="4647895" cy="3874129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502920" y="6638544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Субоптимальный алгоритм управления манипулятором на основе мультимодальных входных данных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10972800" y="663854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 / 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РЕЗУЛЬТАТЫ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6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Целевые конфигурации A/B/C: рост сложности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201400" cy="0"/>
          </a:xfrm>
          <a:prstGeom prst="line">
            <a:avLst/>
          </a:prstGeom>
          <a:noFill/>
          <a:ln w="12700">
            <a:solidFill>
              <a:srgbClr val="B6C3E0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201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Структура регулятора и веса неизменны; меняется только q_target.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20240"/>
          <a:ext cx="6126480" cy="201168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Цель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RMS(e_q), рад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max|e_q|, рад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e_q(t_f), рад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u_energy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0.00141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0.00186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0.00252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0.00747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0.00333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212.2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0.00403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0.00896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0.00534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598.4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4114800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: </a:t>
            </a:r>
            <a:r>
              <a:rPr lang="en-US" dirty="0">
                <a:solidFill>
                  <a:srgbClr val="0F16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[0.4, −0.3, 0.4, −0.2, 0.3, −0.15]  — умеренная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 : </a:t>
            </a:r>
            <a:r>
              <a:rPr lang="en-US" dirty="0">
                <a:solidFill>
                  <a:srgbClr val="0F16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[1.0, 0.0, 0.8, 0.0, 0.4, 0.0]  — асимметричная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 : </a:t>
            </a:r>
            <a:r>
              <a:rPr lang="en-US" dirty="0">
                <a:solidFill>
                  <a:srgbClr val="0F16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[1.2, −0.9, 1.0, −0.7, 0.8, −0.5]  — широкая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02920" y="5760720"/>
            <a:ext cx="612648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0080" y="5760720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→ C: ошибки и u_energy растут монотонно, регулятор сохраняет работоспособность.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858000" y="1920240"/>
            <a:ext cx="4830775" cy="4498848"/>
          </a:xfrm>
          <a:prstGeom prst="rect">
            <a:avLst/>
          </a:prstGeom>
          <a:solidFill>
            <a:srgbClr val="F4F6FB"/>
          </a:solidFill>
          <a:ln w="12700">
            <a:solidFill>
              <a:srgbClr val="B6C3E0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858000" y="1965960"/>
            <a:ext cx="4830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Сравнение результатов по метрикам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0" descr="/sessions/cool-gracious-johnson/figs_exp/word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2722314"/>
            <a:ext cx="4647895" cy="3169019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2"/>
          <p:cNvSpPr/>
          <p:nvPr/>
        </p:nvSpPr>
        <p:spPr>
          <a:xfrm>
            <a:off x="10972800" y="663854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56692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Итог и направления развития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201400" cy="0"/>
          </a:xfrm>
          <a:prstGeom prst="line">
            <a:avLst/>
          </a:prstGeom>
          <a:noFill/>
          <a:ln w="12700">
            <a:solidFill>
              <a:srgbClr val="F7B538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1659636"/>
            <a:ext cx="11201400" cy="2103120"/>
          </a:xfrm>
          <a:prstGeom prst="rect">
            <a:avLst/>
          </a:prstGeom>
          <a:solidFill>
            <a:srgbClr val="2A3A78"/>
          </a:solidFill>
          <a:ln w="25400">
            <a:solidFill>
              <a:schemeClr val="tx2">
                <a:lumMod val="10000"/>
                <a:lumOff val="90000"/>
              </a:schemeClr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600" dirty="0">
                <a:solidFill>
                  <a:srgbClr val="FFC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ГЛАВНЫЙ ВЫВОД</a:t>
            </a:r>
            <a:endParaRPr lang="en-US" sz="18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6"/>
              <p:cNvSpPr/>
              <p:nvPr/>
            </p:nvSpPr>
            <p:spPr>
              <a:xfrm>
                <a:off x="777240" y="2148840"/>
                <a:ext cx="10652760" cy="1554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libri" pitchFamily="34" charset="-122"/>
                    <a:cs typeface="Times New Roman" panose="02020603050405020304" pitchFamily="18" charset="0"/>
                  </a:rPr>
                  <a:t>Конечногоризонтный LQR-регулятор обеспечивает устойчивое слежение манипулятора UR5e за траекторией с минимизацией рывка; RMS(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4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ru-RU" sz="24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  <m:r>
                      <a:rPr lang="ru-RU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Times New Roman" panose="02020603050405020304" pitchFamily="18" charset="0"/>
                      </a:rPr>
                      <m:t>​</m:t>
                    </m:r>
                  </m:oMath>
                </a14:m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libri" pitchFamily="34" charset="-122"/>
                    <a:cs typeface="Times New Roman" panose="02020603050405020304" pitchFamily="18" charset="0"/>
                  </a:rPr>
                  <a:t>) сохраняется на уровне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24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ru-RU" sz="24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libri" pitchFamily="34" charset="-122"/>
                    <a:cs typeface="Times New Roman" panose="02020603050405020304" pitchFamily="18" charset="0"/>
                  </a:rPr>
                  <a:t> рад, а при усложнении целевой конфигурации возрастает энергия управления.</a:t>
                </a:r>
                <a:endParaRPr lang="en-US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" y="2148840"/>
                <a:ext cx="10652760" cy="1554480"/>
              </a:xfrm>
              <a:prstGeom prst="rect">
                <a:avLst/>
              </a:prstGeom>
              <a:blipFill>
                <a:blip r:embed="rId3"/>
                <a:stretch>
                  <a:fillRect l="-1774" t="-6275" b="-7843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7"/>
          <p:cNvSpPr/>
          <p:nvPr/>
        </p:nvSpPr>
        <p:spPr>
          <a:xfrm>
            <a:off x="502920" y="4023360"/>
            <a:ext cx="5440680" cy="2423160"/>
          </a:xfrm>
          <a:prstGeom prst="rect">
            <a:avLst/>
          </a:prstGeom>
          <a:solidFill>
            <a:srgbClr val="2A3A78">
              <a:alpha val="88000"/>
            </a:srgbClr>
          </a:solidFill>
          <a:ln w="12700"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2920" y="4023360"/>
            <a:ext cx="5440680" cy="7315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F7B538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4206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7B5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ВЫВОДЫ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10"/>
              <p:cNvSpPr/>
              <p:nvPr/>
            </p:nvSpPr>
            <p:spPr>
              <a:xfrm>
                <a:off x="731520" y="4617720"/>
                <a:ext cx="5029200" cy="1691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342900" indent="-342900">
                  <a:spcAft>
                    <a:spcPts val="600"/>
                  </a:spcAft>
                  <a:buSzPct val="100000"/>
                  <a:buChar char="•"/>
                </a:pPr>
                <a:r>
                  <a:rPr lang="ru-RU" sz="1800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Calibri" pitchFamily="34" charset="-122"/>
                    <a:cs typeface="Times New Roman" panose="02020603050405020304" pitchFamily="18" charset="0"/>
                  </a:rPr>
                  <a:t>Базовый эксперимент: RMS(</a:t>
                </a:r>
                <a:r>
                  <a:rPr lang="ru-RU" sz="1800" dirty="0" err="1">
                    <a:solidFill>
                      <a:srgbClr val="FFFFFF"/>
                    </a:solidFill>
                    <a:latin typeface="Times New Roman" panose="02020603050405020304" pitchFamily="18" charset="0"/>
                    <a:ea typeface="Calibri" pitchFamily="34" charset="-122"/>
                    <a:cs typeface="Times New Roman" panose="02020603050405020304" pitchFamily="18" charset="0"/>
                  </a:rPr>
                  <a:t>eq</a:t>
                </a:r>
                <a:r>
                  <a:rPr lang="ru-RU" sz="1800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Calibri" pitchFamily="34" charset="-122"/>
                    <a:cs typeface="Times New Roman" panose="02020603050405020304" pitchFamily="18" charset="0"/>
                  </a:rPr>
                  <a:t>​) = 0.0026 рад</a:t>
                </a:r>
                <a:endParaRPr lang="en-US" sz="1800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endParaRPr>
              </a:p>
              <a:p>
                <a:pPr marL="342900" indent="-342900">
                  <a:spcAft>
                    <a:spcPts val="600"/>
                  </a:spcAft>
                  <a:buSzPct val="100000"/>
                  <a:buFontTx/>
                  <a:buChar char="•"/>
                </a:pPr>
                <a:r>
                  <a:rPr lang="ru-RU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Calibri" pitchFamily="34" charset="-122"/>
                    <a:cs typeface="Times New Roman" panose="02020603050405020304" pitchFamily="18" charset="0"/>
                  </a:rPr>
                  <a:t>Вес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Times New Roman" panose="02020603050405020304" pitchFamily="18" charset="0"/>
                          </a:rPr>
                          <m:t>𝑢</m:t>
                        </m:r>
                      </m:sub>
                    </m:sSub>
                    <m:r>
                      <a:rPr lang="en-US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Calibri" pitchFamily="34" charset="-122"/>
                    <a:cs typeface="Times New Roman" panose="02020603050405020304" pitchFamily="18" charset="0"/>
                  </a:rPr>
                  <a:t>влияет на точность, но зависимость немонотонна</a:t>
                </a:r>
                <a:endParaRPr lang="en-US" sz="1800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endParaRPr>
              </a:p>
              <a:p>
                <a:pPr marL="342900" indent="-342900">
                  <a:spcAft>
                    <a:spcPts val="600"/>
                  </a:spcAft>
                  <a:buSzPct val="100000"/>
                  <a:buChar char="•"/>
                </a:pPr>
                <a:r>
                  <a:rPr lang="ru-RU" sz="1800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Calibri" pitchFamily="34" charset="-122"/>
                    <a:cs typeface="Times New Roman" panose="02020603050405020304" pitchFamily="18" charset="0"/>
                  </a:rPr>
                  <a:t>От Target A к Target C ошибки и </a:t>
                </a:r>
                <a:r>
                  <a:rPr lang="ru-RU" sz="1800" dirty="0" err="1">
                    <a:solidFill>
                      <a:srgbClr val="FFFFFF"/>
                    </a:solidFill>
                    <a:latin typeface="Times New Roman" panose="02020603050405020304" pitchFamily="18" charset="0"/>
                    <a:ea typeface="Calibri" pitchFamily="34" charset="-122"/>
                    <a:cs typeface="Times New Roman" panose="02020603050405020304" pitchFamily="18" charset="0"/>
                  </a:rPr>
                  <a:t>u_energy</a:t>
                </a:r>
                <a:r>
                  <a:rPr lang="ru-RU" sz="1800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Calibri" pitchFamily="34" charset="-122"/>
                    <a:cs typeface="Times New Roman" panose="02020603050405020304" pitchFamily="18" charset="0"/>
                  </a:rPr>
                  <a:t> растут монотонно</a:t>
                </a:r>
                <a:endParaRPr lang="en-US" sz="1800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4617720"/>
                <a:ext cx="5029200" cy="1691640"/>
              </a:xfrm>
              <a:prstGeom prst="rect">
                <a:avLst/>
              </a:prstGeom>
              <a:blipFill>
                <a:blip r:embed="rId4"/>
                <a:stretch>
                  <a:fillRect l="-2545" b="-3610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/>
          <p:cNvSpPr/>
          <p:nvPr/>
        </p:nvSpPr>
        <p:spPr>
          <a:xfrm>
            <a:off x="6400800" y="4023360"/>
            <a:ext cx="5440680" cy="2423160"/>
          </a:xfrm>
          <a:prstGeom prst="rect">
            <a:avLst/>
          </a:prstGeom>
          <a:solidFill>
            <a:srgbClr val="2A3A78"/>
          </a:solidFill>
          <a:ln w="12700">
            <a:solidFill>
              <a:schemeClr val="tx2">
                <a:lumMod val="10000"/>
                <a:lumOff val="90000"/>
              </a:schemeClr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0" y="4023360"/>
            <a:ext cx="5440680" cy="7315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F7B538"/>
            </a:solidFill>
            <a:prstDash val="solid"/>
          </a:ln>
        </p:spPr>
        <p:txBody>
          <a:bodyPr/>
          <a:lstStyle/>
          <a:p>
            <a:endParaRPr lang="es-MX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629400" y="4206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7B5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НАПРАВЛЕНИЯ РАЗВИТИЯ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629400" y="461772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Расширить множество целевых конфигураций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Подробный анализ чувствительности к весам LQR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Переход к экспериментам на физическом UR5e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02920" y="6638544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Субоптимальный алгоритм управления манипулятором на основе мультимодальных входных данных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972800" y="663854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 / 4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</TotalTime>
  <Words>585</Words>
  <Application>Microsoft Office PowerPoint</Application>
  <PresentationFormat>Panorámica</PresentationFormat>
  <Paragraphs>118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6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Cambria Math</vt:lpstr>
      <vt:lpstr>Times New Roman</vt:lpstr>
      <vt:lpstr>Tema de Office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Субоптимальный алгоритм управления робототехническим манипулятором на основе мультимодальных входных данных</dc:title>
  <dc:subject>PptxGenJS Presentation</dc:subject>
  <dc:creator>UR5e LQR</dc:creator>
  <cp:lastModifiedBy>Cristina Espinosa</cp:lastModifiedBy>
  <cp:revision>5</cp:revision>
  <dcterms:created xsi:type="dcterms:W3CDTF">2026-04-22T20:07:55Z</dcterms:created>
  <dcterms:modified xsi:type="dcterms:W3CDTF">2026-04-23T19:10:27Z</dcterms:modified>
</cp:coreProperties>
</file>